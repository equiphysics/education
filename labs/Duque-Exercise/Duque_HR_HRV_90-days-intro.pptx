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83" r:id="rId4"/>
    <p:sldId id="272" r:id="rId5"/>
    <p:sldId id="284" r:id="rId6"/>
    <p:sldId id="257" r:id="rId7"/>
    <p:sldId id="270" r:id="rId8"/>
    <p:sldId id="271" r:id="rId9"/>
    <p:sldId id="261" r:id="rId10"/>
    <p:sldId id="259" r:id="rId11"/>
    <p:sldId id="260" r:id="rId12"/>
    <p:sldId id="262" r:id="rId13"/>
    <p:sldId id="263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1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Stand</c:v>
                </c:pt>
                <c:pt idx="1">
                  <c:v>Walk</c:v>
                </c:pt>
                <c:pt idx="2">
                  <c:v>Trot1</c:v>
                </c:pt>
                <c:pt idx="3">
                  <c:v>Rec</c:v>
                </c:pt>
                <c:pt idx="4">
                  <c:v>Trot2</c:v>
                </c:pt>
                <c:pt idx="5">
                  <c:v>Cool</c:v>
                </c:pt>
                <c:pt idx="6">
                  <c:v>Stand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</c:v>
                </c:pt>
                <c:pt idx="1">
                  <c:v>62</c:v>
                </c:pt>
                <c:pt idx="2">
                  <c:v>95</c:v>
                </c:pt>
                <c:pt idx="3">
                  <c:v>70</c:v>
                </c:pt>
                <c:pt idx="4">
                  <c:v>92</c:v>
                </c:pt>
                <c:pt idx="5">
                  <c:v>64</c:v>
                </c:pt>
                <c:pt idx="6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FD-4086-B5CD-CFF91ED2A5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6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Stand</c:v>
                </c:pt>
                <c:pt idx="1">
                  <c:v>Walk</c:v>
                </c:pt>
                <c:pt idx="2">
                  <c:v>Trot1</c:v>
                </c:pt>
                <c:pt idx="3">
                  <c:v>Rec</c:v>
                </c:pt>
                <c:pt idx="4">
                  <c:v>Trot2</c:v>
                </c:pt>
                <c:pt idx="5">
                  <c:v>Cool</c:v>
                </c:pt>
                <c:pt idx="6">
                  <c:v>Stand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42</c:v>
                </c:pt>
                <c:pt idx="1">
                  <c:v>58</c:v>
                </c:pt>
                <c:pt idx="2">
                  <c:v>88</c:v>
                </c:pt>
                <c:pt idx="3">
                  <c:v>64</c:v>
                </c:pt>
                <c:pt idx="4">
                  <c:v>86</c:v>
                </c:pt>
                <c:pt idx="5">
                  <c:v>60</c:v>
                </c:pt>
                <c:pt idx="6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FD-4086-B5CD-CFF91ED2A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3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2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HRV definition &amp; common time-domain metrics: Task Force standards (Circulation, 1996). https://pubmed.ncbi.nlm.nih.gov/8598068/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1B90-B129-D98B-5CC5-419B2BDB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F62F7-7913-B10B-98E9-7F137E87E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0F4B1-2919-5A30-8B30-C48BA158C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60C5-58FC-432C-D5DB-C111C53E2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66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851F-6A44-4F22-92E9-B60F3C38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1D449-732D-C8BF-3D55-47E2431B9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7BEC8-69A1-8DB4-8396-7931C6E3E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0CD0B-4CD6-277F-22F2-0E692BAA3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33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1048-CFE9-5DFB-DFB6-F17CA678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676C4-B9B2-6B0B-7AEF-5B7EC9699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67639-0BEF-90C5-4F3F-3466D51AF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D340-1D7F-45B1-E450-F2553C1D4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0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100FD-5AA2-5322-F1C8-9F104FEA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B356C-FFDA-9A89-12D1-FCA5A63D9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38B5E-57AD-E1EB-2728-CBE82B29D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E661A-5C49-8DB0-065A-0519FFFF7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5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BEBE4-DFAA-81EC-25D2-09637498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F9898-4962-6D66-0C39-97C6DBD56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0CF3F-EE40-52B7-64BA-D421CA0CB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97D80-E837-E1BD-4EDA-3786458A5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92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6431-3544-1613-778A-04ABBB36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D8A1C-B13A-56E0-411E-5BF348FF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9CBA7-A1C1-79E4-DB37-667FDF59B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 of HRV and interpretation framework (time-domain, frequency-domain): Task Force standards (Circulation, 1996). https://pubmed.ncbi.nlm.nih.gov/8598068/
- Factors influencing equine HRV during rest/exercise/recovery: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EDB87-93CD-8CCB-9A45-73C6E41CA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42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HRV metric definitions (RMSSD, SDNN) and interpretation: Task Force standards (Circulation, 1996). https://pubmed.ncbi.nlm.nih.gov/8598068/
- Equine HRV collection/analysis considerations (including artifacts/arrhythmias): Mitchell et al. (2021) review. https://www.sciencedirect.com/science/article/pii/S1090023320301672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Accuracy concerns for HR monitors assessing HRV during exercise in horses: Kapteijn et al., Frontiers in Veterinary Science (2022). https://www.frontiersin.org/articles/10.3389/fvets.2022.939534/full
- Factors affecting equine HRV across rest/exercise/recovery and sites: Younes et al., Frontiers in Physiology (2016). https://www.frontiersin.org/articles/10.3389/fphys.2016.00155/full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General HRV standards and definitions: Task Force (Circulation, 1996). https://pubmed.ncbi.nlm.nih.gov/8598068/
- Exercise and recovery conditions influence equine HRV: Younes et al. (2016). https://www.frontiersin.org/articles/10.3389/fphys.2016.00155/full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HRV interpretation and limitations (artifact sensitivity, context): Task Force (Circulation, 1996). https://pubmed.ncbi.nlm.nih.gov/8598068/
- Equine HRV depends on conditions (site, duration, age) and can be affected during exercise/recovery: Younes et al. (2016). https://www.frontiersin.org/articles/10.3389/fphys.2016.00155/full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HRV standards and definitions: Task Force (Circulation, 1996). https://pubmed.ncbi.nlm.nih.gov/8598068/
- Equine HRV measurement considerations (artifacts, arrhythmias): Mitchell et al. (2021) review. https://www.sciencedirect.com/science/article/pii/S1090023320301672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interest.com/pellavet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quiphysics/education/blob/main/labs/Duque-Exercise/Duque_Lunge_Test.ipynb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5mAcd1Ac8XIEhCuOcphAe0HiPSdV_O2P/view?usp=drive_link" TargetMode="External"/><Relationship Id="rId5" Type="http://schemas.openxmlformats.org/officeDocument/2006/relationships/hyperlink" Target="https://drive.google.com/file/d/1jaiEV2PssI8UMKxvMHOj7RkMWqcBlYT6/view?usp=sharing" TargetMode="External"/><Relationship Id="rId4" Type="http://schemas.openxmlformats.org/officeDocument/2006/relationships/hyperlink" Target="https://drive.google.com/drive/folders/1PTUOogGCghmoGYvzgzTaX4nUULSeq23b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32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Heart Rate (HR)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Heart Rate Variability (HRV)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Duque’s weekly lunge test + 90‑day routine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5349240"/>
            <a:ext cx="10607040" cy="1188720"/>
          </a:xfrm>
          <a:prstGeom prst="roundRect">
            <a:avLst/>
          </a:prstGeom>
          <a:solidFill>
            <a:srgbClr val="1B3557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learn: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58064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 vs HRV actually measure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collect clean data during work + recovery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weekly trends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4071-CAB6-661F-9FC5-917DC264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63EE35BC-1D67-B955-EC95-1A54B579FE51}"/>
              </a:ext>
            </a:extLst>
          </p:cNvPr>
          <p:cNvSpPr/>
          <p:nvPr/>
        </p:nvSpPr>
        <p:spPr>
          <a:xfrm>
            <a:off x="2788920" y="914400"/>
            <a:ext cx="662940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B74606B-14A3-4EAB-5BDF-A8F8309CC0D8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4FB5DE-A1C2-7AD8-924F-A4852BB619AB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 for a horse?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31C56C4-743B-8D4E-4822-F1CE68CDECE6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671EBB-3DBD-1D3F-DA8C-62816D192E3E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2646A8-1534-0E5D-2272-4775B65F3DE1}"/>
              </a:ext>
            </a:extLst>
          </p:cNvPr>
          <p:cNvSpPr/>
          <p:nvPr/>
        </p:nvSpPr>
        <p:spPr>
          <a:xfrm>
            <a:off x="548640" y="66019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Heartbeats Lab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5570BD-789E-9F0A-CA88-71F3003E6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82" y="1132263"/>
            <a:ext cx="5050673" cy="505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9152A5-5E66-597E-56B5-D90758564B5E}"/>
              </a:ext>
            </a:extLst>
          </p:cNvPr>
          <p:cNvSpPr txBox="1"/>
          <p:nvPr/>
        </p:nvSpPr>
        <p:spPr>
          <a:xfrm>
            <a:off x="7541188" y="6120867"/>
            <a:ext cx="6095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Pin Sans"/>
                <a:hlinkClick r:id="rId4"/>
              </a:rPr>
              <a:t>Pella Vet</a:t>
            </a:r>
          </a:p>
        </p:txBody>
      </p:sp>
    </p:spTree>
    <p:extLst>
      <p:ext uri="{BB962C8B-B14F-4D97-AF65-F5344CB8AC3E}">
        <p14:creationId xmlns:p14="http://schemas.microsoft.com/office/powerpoint/2010/main" val="417486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136C-D6EB-62B5-D73E-8672CBF3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D3FEE4D0-502E-4433-7A07-123CCFDD4418}"/>
              </a:ext>
            </a:extLst>
          </p:cNvPr>
          <p:cNvSpPr/>
          <p:nvPr/>
        </p:nvSpPr>
        <p:spPr>
          <a:xfrm>
            <a:off x="1076379" y="859536"/>
            <a:ext cx="9870295" cy="5632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9EFF644-9FC8-C1F2-0F3C-989E392466CA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E89C4B-F987-3DB5-00C9-20109DAF0A47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extreme?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E244AAF-2091-807F-D3D0-69E3A7AB49B7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6AAEB37-0C49-662E-E410-0DB5A9162B1A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91A0A18-DF1E-3328-877A-6D92AB9E2101}"/>
              </a:ext>
            </a:extLst>
          </p:cNvPr>
          <p:cNvSpPr/>
          <p:nvPr/>
        </p:nvSpPr>
        <p:spPr>
          <a:xfrm>
            <a:off x="548640" y="66019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Heartbeats Lab</a:t>
            </a:r>
            <a:endParaRPr lang="en-US" sz="1200" dirty="0"/>
          </a:p>
        </p:txBody>
      </p:sp>
      <p:pic>
        <p:nvPicPr>
          <p:cNvPr id="2050" name="Picture 2" descr="récupération cardio cheval">
            <a:extLst>
              <a:ext uri="{FF2B5EF4-FFF2-40B4-BE49-F238E27FC236}">
                <a16:creationId xmlns:a16="http://schemas.microsoft.com/office/drawing/2014/main" id="{108FC34F-A37A-CF69-AB40-04E54658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192" y="1391386"/>
            <a:ext cx="9034272" cy="453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A1E089-6E37-DBDF-7A6A-39F68A14AC81}"/>
              </a:ext>
            </a:extLst>
          </p:cNvPr>
          <p:cNvSpPr txBox="1"/>
          <p:nvPr/>
        </p:nvSpPr>
        <p:spPr>
          <a:xfrm>
            <a:off x="7326957" y="6047985"/>
            <a:ext cx="3086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https://training.arioneo.com/en/heart-rate/</a:t>
            </a:r>
          </a:p>
        </p:txBody>
      </p:sp>
    </p:spTree>
    <p:extLst>
      <p:ext uri="{BB962C8B-B14F-4D97-AF65-F5344CB8AC3E}">
        <p14:creationId xmlns:p14="http://schemas.microsoft.com/office/powerpoint/2010/main" val="87281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5BEAA-B10B-7662-A816-B5A534FA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777C70A5-119F-6498-1FA6-FB89D17CB5E5}"/>
              </a:ext>
            </a:extLst>
          </p:cNvPr>
          <p:cNvSpPr/>
          <p:nvPr/>
        </p:nvSpPr>
        <p:spPr>
          <a:xfrm>
            <a:off x="909320" y="5127752"/>
            <a:ext cx="10708640" cy="143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F4707B0-3D1E-1EB0-BFD9-419C4439C85E}"/>
              </a:ext>
            </a:extLst>
          </p:cNvPr>
          <p:cNvSpPr/>
          <p:nvPr/>
        </p:nvSpPr>
        <p:spPr>
          <a:xfrm>
            <a:off x="2595880" y="896112"/>
            <a:ext cx="6822440" cy="404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5C31B86-1FDB-2EA1-2844-4231F1778DAB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2B7990-FCB0-20EA-6D42-A701A637F60E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Electrocardiogram (ECG)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BC7437C-7D50-1217-8540-8377DD27A08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interpreting ECG values">
            <a:extLst>
              <a:ext uri="{FF2B5EF4-FFF2-40B4-BE49-F238E27FC236}">
                <a16:creationId xmlns:a16="http://schemas.microsoft.com/office/drawing/2014/main" id="{F814611A-A2E2-5199-1413-1AAC1C27E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1238548"/>
            <a:ext cx="5963743" cy="338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752348-FA74-6696-2E0D-98E0317832D9}"/>
              </a:ext>
            </a:extLst>
          </p:cNvPr>
          <p:cNvSpPr txBox="1"/>
          <p:nvPr/>
        </p:nvSpPr>
        <p:spPr>
          <a:xfrm>
            <a:off x="1325880" y="5245219"/>
            <a:ext cx="995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Electrocardiography (ECG) is a diagnostic tool used to measure the electrical activity of the heart. An ECG machine records the electrical signals from the heart and produces an ECG waveform, which is a graphical representation of the heart’s electrical activity.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0A0B7-50AA-0577-86F8-6B440742CF20}"/>
              </a:ext>
            </a:extLst>
          </p:cNvPr>
          <p:cNvSpPr txBox="1"/>
          <p:nvPr/>
        </p:nvSpPr>
        <p:spPr>
          <a:xfrm>
            <a:off x="4053840" y="460911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https://medtigo.com/blog/how-do-you-interpret-ecg-values/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E9BB377-9CF3-827F-C859-722BD2E91E38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F2DE56C-EE8F-CF93-A037-7656B75FDB99}"/>
              </a:ext>
            </a:extLst>
          </p:cNvPr>
          <p:cNvSpPr/>
          <p:nvPr/>
        </p:nvSpPr>
        <p:spPr>
          <a:xfrm>
            <a:off x="548640" y="66019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Heartbeats Lab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870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B291-CC6E-8067-FAC6-38BAAF74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eart Rate Variability (HRV) ">
            <a:extLst>
              <a:ext uri="{FF2B5EF4-FFF2-40B4-BE49-F238E27FC236}">
                <a16:creationId xmlns:a16="http://schemas.microsoft.com/office/drawing/2014/main" id="{283DD3D6-23EF-CFA0-9720-941113F76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978" y="756258"/>
            <a:ext cx="6707342" cy="310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31ADCB17-4D44-69D4-517D-FDC08BF1F9E3}"/>
              </a:ext>
            </a:extLst>
          </p:cNvPr>
          <p:cNvSpPr/>
          <p:nvPr/>
        </p:nvSpPr>
        <p:spPr>
          <a:xfrm>
            <a:off x="1285240" y="3696449"/>
            <a:ext cx="9088120" cy="27409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524B31-4165-DDBB-647B-43A5DA791A1B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B85652-B00E-BDC9-8F38-5607396228A3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Heart Rate Variability (HRV)?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062E073-DFCA-CAD4-FC0B-197D60E78B0C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18DAD4-7742-C13F-6D05-FC4EAE9BA2F0}"/>
              </a:ext>
            </a:extLst>
          </p:cNvPr>
          <p:cNvSpPr txBox="1">
            <a:spLocks/>
          </p:cNvSpPr>
          <p:nvPr/>
        </p:nvSpPr>
        <p:spPr>
          <a:xfrm>
            <a:off x="1885950" y="4025598"/>
            <a:ext cx="7886699" cy="1943414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What Does HRV Tell Us?</a:t>
            </a:r>
            <a:endParaRPr lang="en-US" sz="2400" dirty="0"/>
          </a:p>
          <a:p>
            <a:endParaRPr lang="en-US" sz="1100" dirty="0"/>
          </a:p>
          <a:p>
            <a:r>
              <a:rPr lang="en-US" sz="1800" dirty="0"/>
              <a:t>Higher HRV is associated with lower stress levels in humans and other animals. </a:t>
            </a:r>
          </a:p>
          <a:p>
            <a:r>
              <a:rPr lang="en-US" sz="1800" dirty="0"/>
              <a:t>Heartbeat coupling and synchronized HRV between humans and horses. </a:t>
            </a:r>
          </a:p>
          <a:p>
            <a:r>
              <a:rPr lang="en-US" sz="1800" dirty="0"/>
              <a:t>HRV synchronization flows both ways—from human to horse and from horse to human. 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7A3335D-1705-54C1-FB63-3B3FE9A48248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F7820-3CB3-0E53-F88D-40D3FACCE384}"/>
              </a:ext>
            </a:extLst>
          </p:cNvPr>
          <p:cNvSpPr/>
          <p:nvPr/>
        </p:nvSpPr>
        <p:spPr>
          <a:xfrm>
            <a:off x="548640" y="66019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Heartbeats Lab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FBEEF-2ABD-5BD8-416A-160A47326749}"/>
              </a:ext>
            </a:extLst>
          </p:cNvPr>
          <p:cNvSpPr txBox="1"/>
          <p:nvPr/>
        </p:nvSpPr>
        <p:spPr>
          <a:xfrm>
            <a:off x="5158524" y="6120310"/>
            <a:ext cx="6095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https://www.tres.in/health-insight/heart-rate-variability-does-it-matter/</a:t>
            </a:r>
          </a:p>
        </p:txBody>
      </p:sp>
    </p:spTree>
    <p:extLst>
      <p:ext uri="{BB962C8B-B14F-4D97-AF65-F5344CB8AC3E}">
        <p14:creationId xmlns:p14="http://schemas.microsoft.com/office/powerpoint/2010/main" val="265101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 HR + HRV?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04088" y="1276096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tells us fast or hard the heart is working. HRV helps interpret how the body is responding.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2159000"/>
            <a:ext cx="5669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510528" y="2159000"/>
            <a:ext cx="496519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32688" y="238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(HR)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3438144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with workload: speed + effort + terrain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shows up as lower HR for same work 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HR: how quickly a horse returns toward baseline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84848" y="238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3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Variability (HRV)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752844" y="3128264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Beat‑to‑beat timing variation (R‑R intervals)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/>
              <a:t>Higher HRV is associated with lower stress levels </a:t>
            </a: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when measured in rest and recovery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EFC0AC7-8904-B158-D895-A1B025856D93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AA9A-67CA-CDA2-F5B7-A7EDFC76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B0A53652-F493-5D12-E10A-4A0FF33CA25C}"/>
              </a:ext>
            </a:extLst>
          </p:cNvPr>
          <p:cNvSpPr/>
          <p:nvPr/>
        </p:nvSpPr>
        <p:spPr>
          <a:xfrm>
            <a:off x="6976753" y="1468263"/>
            <a:ext cx="4779818" cy="43786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19D002A-E56C-6AFE-6010-C03CB5921130}"/>
              </a:ext>
            </a:extLst>
          </p:cNvPr>
          <p:cNvSpPr/>
          <p:nvPr/>
        </p:nvSpPr>
        <p:spPr>
          <a:xfrm>
            <a:off x="876300" y="1475861"/>
            <a:ext cx="5389880" cy="43786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77229A3-D945-CDE1-BBDB-99DA0ACE2CBA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A0138-BA18-7CE0-F3F4-8958EA938B3D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HR and HRV?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2BD04FC-3915-16FB-EA2B-150ED07DC7AB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AF471DF-2228-8145-907A-52E47F11E570}"/>
              </a:ext>
            </a:extLst>
          </p:cNvPr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8F7D40-E0CC-09D6-EEE0-46C8D755B3D4}"/>
              </a:ext>
            </a:extLst>
          </p:cNvPr>
          <p:cNvSpPr txBox="1">
            <a:spLocks/>
          </p:cNvSpPr>
          <p:nvPr/>
        </p:nvSpPr>
        <p:spPr>
          <a:xfrm>
            <a:off x="1406310" y="1869522"/>
            <a:ext cx="4555490" cy="3576156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r>
              <a:rPr lang="en-US" sz="2600" b="1" dirty="0">
                <a:solidFill>
                  <a:srgbClr val="002060"/>
                </a:solidFill>
              </a:rPr>
              <a:t>The Polar V800 </a:t>
            </a:r>
            <a:r>
              <a:rPr lang="en-US" sz="2600" dirty="0">
                <a:solidFill>
                  <a:schemeClr val="dk1"/>
                </a:solidFill>
              </a:rPr>
              <a:t>heart rate monitor is a system validated for collecting accurate Inter-Beat Interval (IBI) data in horses.</a:t>
            </a:r>
          </a:p>
          <a:p>
            <a:pPr marL="0" lvl="0" indent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endParaRPr lang="en-US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r>
              <a:rPr lang="en-US" b="1" dirty="0">
                <a:solidFill>
                  <a:srgbClr val="7030A0"/>
                </a:solidFill>
              </a:rPr>
              <a:t>How it Works: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ts val="1400"/>
              <a:buChar char="●"/>
            </a:pPr>
            <a:r>
              <a:rPr lang="en-US" sz="2400" dirty="0">
                <a:solidFill>
                  <a:schemeClr val="dk1"/>
                </a:solidFill>
              </a:rPr>
              <a:t>An electrode belt is placed around the horse's girth, near the elbow, to capture the heart's electrical signals.</a:t>
            </a:r>
          </a:p>
          <a:p>
            <a:pPr marL="457200" lvl="0" indent="-31750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ts val="1400"/>
              <a:buChar char="●"/>
            </a:pPr>
            <a:r>
              <a:rPr lang="en-US" sz="2400" dirty="0">
                <a:solidFill>
                  <a:schemeClr val="dk1"/>
                </a:solidFill>
              </a:rPr>
              <a:t>It records beat-to-beat (R-R interval) data, which is essential for both heart rate and HRV analysis.</a:t>
            </a:r>
          </a:p>
        </p:txBody>
      </p:sp>
      <p:pic>
        <p:nvPicPr>
          <p:cNvPr id="8" name="Google Shape;139;p25">
            <a:extLst>
              <a:ext uri="{FF2B5EF4-FFF2-40B4-BE49-F238E27FC236}">
                <a16:creationId xmlns:a16="http://schemas.microsoft.com/office/drawing/2014/main" id="{4E1B25BC-BB4E-19D2-EF2F-644D0466FA6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477" y="1742393"/>
            <a:ext cx="3834245" cy="383041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F998705-A74E-FC99-DD4C-BE82C97E096B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5756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FCCA7-87FD-D2B7-06E4-C136339E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F2A1FC2A-37EF-7F20-B835-80F88EDD9E08}"/>
              </a:ext>
            </a:extLst>
          </p:cNvPr>
          <p:cNvSpPr/>
          <p:nvPr/>
        </p:nvSpPr>
        <p:spPr>
          <a:xfrm>
            <a:off x="6618019" y="1468263"/>
            <a:ext cx="5138552" cy="43786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Ideal changes week to week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Lower HR at the same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Faster HR recovery after trot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More stable baseline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HRV trends consistent with improved recovery / lower stress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353919D-9907-E5B8-B9BA-67277FF3FE42}"/>
              </a:ext>
            </a:extLst>
          </p:cNvPr>
          <p:cNvSpPr/>
          <p:nvPr/>
        </p:nvSpPr>
        <p:spPr>
          <a:xfrm>
            <a:off x="876300" y="1475861"/>
            <a:ext cx="5138552" cy="43786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147E536-78B3-CDA9-48D1-18B75850E6BC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700E7C-5A77-EBFC-1A5D-25E8C283760C}"/>
              </a:ext>
            </a:extLst>
          </p:cNvPr>
          <p:cNvSpPr/>
          <p:nvPr/>
        </p:nvSpPr>
        <p:spPr>
          <a:xfrm>
            <a:off x="1139142" y="3723746"/>
            <a:ext cx="43828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7030A0"/>
                </a:solidFill>
              </a:rPr>
              <a:t>Goal: </a:t>
            </a:r>
            <a:r>
              <a:rPr lang="en-US" sz="2200" dirty="0"/>
              <a:t>Build fitness safely over 90 days while measuring objective change.</a:t>
            </a:r>
            <a:br>
              <a:rPr lang="en-US" sz="2000" dirty="0"/>
            </a:br>
            <a:br>
              <a:rPr lang="en-US" sz="2000" dirty="0"/>
            </a:br>
            <a:r>
              <a:rPr lang="en-US" sz="2400" b="1" dirty="0">
                <a:solidFill>
                  <a:srgbClr val="0070C0"/>
                </a:solidFill>
              </a:rPr>
              <a:t>Why Duque?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~19 years old PRE gelding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Light recent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Early muscle atrophy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Ideal case for careful progression + data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CED6BF9-C951-9E1C-2493-2228E658278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EB8D7E9-A6A2-C77F-31CD-622570313CBB}"/>
              </a:ext>
            </a:extLst>
          </p:cNvPr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405695-6582-CCAF-3ABF-339D99B0AF4C}"/>
              </a:ext>
            </a:extLst>
          </p:cNvPr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Duque: What we hope to see during his fitness program</a:t>
            </a:r>
            <a:endParaRPr lang="en-US" sz="2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B802944-8A4F-7298-55D8-2DC955445FAD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844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lunge exercise test (standardized)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112520"/>
            <a:ext cx="1150315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386840"/>
            <a:ext cx="1092708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569720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Standardize: 18 m circle • indoor arena • same tack • same order (Left → Right)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14400" y="2209800"/>
            <a:ext cx="53492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209800"/>
            <a:ext cx="53492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374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Pre‑test (standing)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6761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standing 5 min (HR/HRV)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233335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3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— Left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535087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warm‑up 5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recovery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cool‑down 2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374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direction 30–60 sec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20840" y="281781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3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— Right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20840" y="311957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warm‑up 5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recovery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 2 min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cool‑down 2 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4797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Post‑test (standing)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20840" y="5090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recovery 10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5974080"/>
            <a:ext cx="10927080" cy="5029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609092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~40–45 min door‑to‑door (work blocks 26 min + standing before/after)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63854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EFA2677-EF49-4903-7EC4-B8BC1F482985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metrics we’ll report (and what they mean)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670631"/>
            <a:ext cx="10433462" cy="530352"/>
          </a:xfrm>
          <a:prstGeom prst="rect">
            <a:avLst/>
          </a:prstGeom>
          <a:solidFill>
            <a:srgbClr val="F3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0359"/>
            <a:ext cx="18246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880360" y="1780359"/>
            <a:ext cx="54738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Layman description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14705" y="1780359"/>
            <a:ext cx="33698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2283279"/>
            <a:ext cx="1043346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1" y="2447871"/>
            <a:ext cx="1741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1" y="2393007"/>
            <a:ext cx="42804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Root Mean Square of Successive Differences: </a:t>
            </a: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How much one beat interval changes compared with the next.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14704" y="2393007"/>
            <a:ext cx="34224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It’s relatively robust for short recordings and is commonly used in daily readiness/recovery tracking.</a:t>
            </a:r>
          </a:p>
        </p:txBody>
      </p:sp>
      <p:sp>
        <p:nvSpPr>
          <p:cNvPr id="14" name="Shape 12"/>
          <p:cNvSpPr/>
          <p:nvPr/>
        </p:nvSpPr>
        <p:spPr>
          <a:xfrm>
            <a:off x="685800" y="3243399"/>
            <a:ext cx="1043346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1" y="3407991"/>
            <a:ext cx="1741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80361" y="3353127"/>
            <a:ext cx="42804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Standard Deviation of NN intervals: Overall variability across the whole segment you’re analyzing</a:t>
            </a:r>
          </a:p>
        </p:txBody>
      </p:sp>
      <p:sp>
        <p:nvSpPr>
          <p:cNvPr id="17" name="Text 15"/>
          <p:cNvSpPr/>
          <p:nvPr/>
        </p:nvSpPr>
        <p:spPr>
          <a:xfrm>
            <a:off x="7514704" y="3353127"/>
            <a:ext cx="34224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Longer resting windows; not ideal in noisy exercise data.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203518"/>
            <a:ext cx="10433462" cy="620043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1" y="4368111"/>
            <a:ext cx="1741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80361" y="4313247"/>
            <a:ext cx="42804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Average heart rate for a segment.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4704" y="4313247"/>
            <a:ext cx="34224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Workload + recovery speed.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823562"/>
            <a:ext cx="1043346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1" y="4972577"/>
            <a:ext cx="1741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slope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80360" y="4965011"/>
            <a:ext cx="42804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How quickly HR drops after trot sets.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14704" y="4867640"/>
            <a:ext cx="34224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Fitness/recovery trends across the 90 days.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5810612"/>
            <a:ext cx="11503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HRV metrics are sensitive to artifacts (missed/extra beats) — clean data matters.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-712521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9CB235B1-0CF1-C6A1-C2AB-D9FDA20D0514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clean HR/HRV data (horses)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8848" y="914400"/>
            <a:ext cx="11503152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is powerful — but only if the signal is clean.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" y="22057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3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640584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device, placement, and settings every week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calm baseline (quiet standing) before work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motion artifacts: snug strap, good electrode contact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segments with noise before interpreting HRV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52844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3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confounders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20840" y="1992599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hydration, pain/discomfort, excitement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(new horses, wind, noise)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warm-up intensity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errors during movement 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20840" y="3749040"/>
            <a:ext cx="5257800" cy="25146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03720" y="42062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HRV mostly in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quiet standing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standing recovery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HRV is often noisier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A7B8C05-C583-BAC4-701E-7A1C7310E351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publish each week (example format)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*These plots are illustrative. We’ll replace the values with Duque’s actual data each week.</a:t>
            </a:r>
            <a:endParaRPr lang="en-US" sz="1600" i="1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6858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26680" y="1325880"/>
            <a:ext cx="446227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during the lunge session (example)</a:t>
            </a:r>
            <a:endParaRPr lang="en-US" sz="2000" dirty="0">
              <a:solidFill>
                <a:srgbClr val="7030A0"/>
              </a:solidFill>
            </a:endParaRPr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223920636"/>
              </p:ext>
            </p:extLst>
          </p:nvPr>
        </p:nvGraphicFramePr>
        <p:xfrm>
          <a:off x="960120" y="1874520"/>
          <a:ext cx="6492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001000" y="2732345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we’ll answer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001000" y="3098105"/>
            <a:ext cx="3873043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work, is HR lower?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recovery faster?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standing recovery RMSSD trending up/down?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left vs right directions differ?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229600" y="440740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C304E6A-6E5A-9567-EEC0-F9C336DF49C4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trends: do’s &amp; don’ts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5669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37960" y="960120"/>
            <a:ext cx="5650992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same segments week-to-week </a:t>
            </a: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direction effects (left vs right) separately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notes: weather, footing, behavior, tack changes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changes as hypotheses (“why might this shift?”)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1228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12280" y="15544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Over-interpret a single day </a:t>
            </a: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“higher HRV = always better”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exercise HRV numbers without checking for artifacts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HRV as a diagnostic tool — it’s one piece of the puzzle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0120" y="4800600"/>
            <a:ext cx="11018520" cy="1783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4937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pause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532180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HR rises at the same workload and/or recovery slows for multiple weeks, or if behavior changes, talk with your vet/trainer team.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Weekly Duque Routine</a:t>
            </a:r>
            <a:endParaRPr lang="en-US" sz="11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145FB9C-4BBE-7A75-9C70-5776EA70A2F4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38200" y="896112"/>
            <a:ext cx="10789920" cy="26825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576957" y="994064"/>
            <a:ext cx="10149840" cy="2434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post Duque’s weekly lunge-test results throughout the 90‑day routine, including: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 workload + recovery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HRV in quiet standing + standing recovery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Notes on conditions and training changes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This content is educational and not a veterinary diagnosis.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663854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 • equiphysics.org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62A228-3C04-83E4-5287-81CE728E2555}"/>
              </a:ext>
            </a:extLst>
          </p:cNvPr>
          <p:cNvSpPr/>
          <p:nvPr/>
        </p:nvSpPr>
        <p:spPr>
          <a:xfrm>
            <a:off x="9418320" y="182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 err="1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EquiPhysics</a:t>
            </a: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equiphysics.org</a:t>
            </a:r>
            <a:endParaRPr lang="en-US" sz="13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123C24F-CAAC-1D36-8E90-75EE73782B4C}"/>
              </a:ext>
            </a:extLst>
          </p:cNvPr>
          <p:cNvSpPr/>
          <p:nvPr/>
        </p:nvSpPr>
        <p:spPr>
          <a:xfrm>
            <a:off x="838200" y="3823869"/>
            <a:ext cx="10789920" cy="26825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 for Python notebook: </a:t>
            </a:r>
          </a:p>
          <a:p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https://github.com/equiphysics/education/blob/main/labs/Duque-Exercise/Duque_Lunge_Test.ipynb</a:t>
            </a:r>
            <a:endParaRPr lang="en-US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link for data: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https://drive.google.com/drive/folders/1PTUOogGCghmoGYvzgzTaX4nUULSeq23b?usp=sharing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en-US" sz="1600" dirty="0"/>
          </a:p>
          <a:p>
            <a:r>
              <a:rPr lang="en-US" sz="1600" dirty="0"/>
              <a:t>Video presentation: </a:t>
            </a:r>
            <a:r>
              <a:rPr lang="en-US" sz="1600" dirty="0">
                <a:hlinkClick r:id="rId5"/>
              </a:rPr>
              <a:t>https://drive.google.com/file/d/1jaiEV2PssI8UMKxvMHOj7RkMWqcBlYT6/view?usp=sharing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How to use Python </a:t>
            </a:r>
            <a:r>
              <a:rPr lang="en-US" sz="1600"/>
              <a:t>Notebook: </a:t>
            </a:r>
            <a:r>
              <a:rPr lang="en-US" sz="1600">
                <a:hlinkClick r:id="rId6"/>
              </a:rPr>
              <a:t>https://drive.google.com/file/d/15mAcd1Ac8XIEhCuOcphAe0HiPSdV_O2P/view?usp=drive_link</a:t>
            </a:r>
            <a:r>
              <a:rPr lang="en-US" sz="1600"/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2331</Words>
  <Application>Microsoft Office PowerPoint</Application>
  <PresentationFormat>Widescreen</PresentationFormat>
  <Paragraphs>195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Pin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EquiPhysics</dc:creator>
  <cp:lastModifiedBy>Laura Ann Miller</cp:lastModifiedBy>
  <cp:revision>11</cp:revision>
  <dcterms:created xsi:type="dcterms:W3CDTF">2026-01-23T00:50:33Z</dcterms:created>
  <dcterms:modified xsi:type="dcterms:W3CDTF">2026-02-03T03:37:08Z</dcterms:modified>
</cp:coreProperties>
</file>