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3" r:id="rId5"/>
    <p:sldId id="266" r:id="rId6"/>
    <p:sldId id="267" r:id="rId7"/>
    <p:sldId id="270" r:id="rId8"/>
    <p:sldId id="258" r:id="rId9"/>
    <p:sldId id="259" r:id="rId10"/>
    <p:sldId id="268" r:id="rId11"/>
    <p:sldId id="271" r:id="rId12"/>
    <p:sldId id="260" r:id="rId13"/>
    <p:sldId id="269" r:id="rId14"/>
    <p:sldId id="261" r:id="rId15"/>
    <p:sldId id="26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66"/>
    <a:srgbClr val="9933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42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2996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69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8800-9805-6803-6281-61584CBC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B32D2-2835-D267-3855-D4E41D1EB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01550-466C-F780-F546-6A643D11A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1471A-DC5A-581B-166F-69861271C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62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B39D-EFB0-2CCC-C407-5FFC0F22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D1EAB-BC99-69C6-0987-197D61AF5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1B789-FB19-6ACA-8D91-2499D97E7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8B5FB-2B16-F8B1-1216-CAC99E16F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6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F905-583C-181D-E86B-2BB2A4BF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BEFBB-8D4E-81D4-DBFD-FD459CAD9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68AB5-F582-62E7-D15A-4532B2152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E01EB-6545-104E-A2E6-4AB37DCF0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1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9BC9-5E4A-32AB-ACB7-3D64BCEE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63701-41C2-317C-C17B-B7E651307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A5D1F-476E-3215-573F-0393E6FBA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0016F-FEBB-614E-5442-AD05A7D1F9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62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D0C3-8DF9-EE14-FE76-06E50215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5549B-A01F-4BAD-5B60-E26C37586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DF082-AE0C-A84C-4F52-C281E6F89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3B983-AE07-ACB1-8E2A-A669E1DEA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18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0B16A-6D7E-A9AD-1C42-8D661034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AC6FD-71A0-0FBC-952B-7F246B93A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35DF5-B391-B316-3697-5621082B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AD901-D87A-8E18-024E-34B843E11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18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3B66"/>
          </a:solidFill>
          <a:ln w="12700">
            <a:solidFill>
              <a:srgbClr val="0F3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sv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features_a_side_view_of_a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A2E53">
              <a:alpha val="94000"/>
            </a:srgbClr>
          </a:solidFill>
          <a:ln w="12700">
            <a:solidFill>
              <a:srgbClr val="0A2E5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33D">
              <a:alpha val="45000"/>
            </a:srgbClr>
          </a:solidFill>
          <a:ln w="12700">
            <a:solidFill>
              <a:srgbClr val="0723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731520" y="1041703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EquiPro Walk and Trot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+ Phase Model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50846" y="2712461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F1FF"/>
                </a:solidFill>
              </a:rPr>
              <a:t>Background for the Python lesson notebook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4108899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ingredients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87810" y="4725572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08046" y="467258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EquiPro stride data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94295" y="5076870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08046" y="501091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LH–RH–LF–RF limb convention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87810" y="5402228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208046" y="534924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Walk and trot phase targets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94295" y="5753526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08046" y="568756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Observed vs modeled timing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notebook exists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an introductory lesson to gait.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41315" y="4823460"/>
            <a:ext cx="411480" cy="320040"/>
          </a:xfrm>
          <a:prstGeom prst="chevron">
            <a:avLst/>
          </a:prstGeom>
          <a:solidFill>
            <a:srgbClr val="0066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27315" y="4823460"/>
            <a:ext cx="411480" cy="320040"/>
          </a:xfrm>
          <a:prstGeom prst="chevron">
            <a:avLst/>
          </a:prstGeom>
          <a:solidFill>
            <a:srgbClr val="FF660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13315" y="4823460"/>
            <a:ext cx="411480" cy="320040"/>
          </a:xfrm>
          <a:prstGeom prst="chevron">
            <a:avLst/>
          </a:prstGeom>
          <a:solidFill>
            <a:srgbClr val="9933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299315" y="4823460"/>
            <a:ext cx="411480" cy="320040"/>
          </a:xfrm>
          <a:prstGeom prst="chevron">
            <a:avLst/>
          </a:prstGeom>
          <a:solidFill>
            <a:srgbClr val="FF006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450342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4503420"/>
            <a:ext cx="1508760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86968" y="4704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9423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EquiPro CSV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stride summaries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63240" y="450342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63240" y="4503420"/>
            <a:ext cx="1508760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4704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Select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54680" y="49423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one walk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one trot block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49240" y="450342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49240" y="4503420"/>
            <a:ext cx="1508760" cy="146304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58968" y="4704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Normalize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40680" y="49423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hoof-on events 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phase on [0,1)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450342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4503420"/>
            <a:ext cx="1508760" cy="14630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44968" y="4704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26680" y="49423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reduced 4-limb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phase CPG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21240" y="4503420"/>
            <a:ext cx="15087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21240" y="4503420"/>
            <a:ext cx="1508760" cy="146304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30968" y="47045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Compare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12680" y="49423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observed vs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modeled timing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1508760"/>
            <a:ext cx="3291840" cy="2071116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1508760"/>
            <a:ext cx="64008" cy="20711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1920951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learn from the data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51560" y="2440534"/>
            <a:ext cx="294436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footfall timing, stride duration, and normalized phase encode the gait pattern.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34840" y="1508760"/>
            <a:ext cx="3291840" cy="2071116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34840" y="1508759"/>
            <a:ext cx="64008" cy="2071115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1920951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learn from the model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663440" y="2440534"/>
            <a:ext cx="294436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phase locking can reproduce walk and trot as stable relative phase relationships.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46720" y="1508760"/>
            <a:ext cx="3291840" cy="2071116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46720" y="1508760"/>
            <a:ext cx="53178" cy="2071116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75320" y="1920951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comparison shows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275320" y="2440534"/>
            <a:ext cx="2944368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horses cluster around ideal timing patterns, but they are not perfectly periodic.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is organized as a sequence: load → normalize → visualize → model → compare.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05AE-67A0-AAA9-FFDF-5FEE1127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94BD12-577B-BB31-F57A-3842C6BC2A58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walk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4FB0B6-5CD0-658D-0291-58CB64BC06C0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walk is a symmetric 4-beat gait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DB76F-B7F1-6ECC-FBFC-DED558ACF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472" y="1269441"/>
            <a:ext cx="6725055" cy="5043791"/>
          </a:xfrm>
          <a:prstGeom prst="rect">
            <a:avLst/>
          </a:prstGeom>
        </p:spPr>
      </p:pic>
      <p:sp>
        <p:nvSpPr>
          <p:cNvPr id="40" name="Text 38">
            <a:extLst>
              <a:ext uri="{FF2B5EF4-FFF2-40B4-BE49-F238E27FC236}">
                <a16:creationId xmlns:a16="http://schemas.microsoft.com/office/drawing/2014/main" id="{D281A29A-689F-0381-AC76-F18EE0646283}"/>
              </a:ext>
            </a:extLst>
          </p:cNvPr>
          <p:cNvSpPr/>
          <p:nvPr/>
        </p:nvSpPr>
        <p:spPr>
          <a:xfrm>
            <a:off x="640080" y="6076544"/>
            <a:ext cx="10972800" cy="54601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ctr"/>
          <a:lstStyle/>
          <a:p>
            <a:r>
              <a:rPr lang="en" sz="1400" i="1" dirty="0">
                <a:solidFill>
                  <a:srgbClr val="00206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footfall sequence is: </a:t>
            </a:r>
            <a:r>
              <a:rPr lang="en" sz="1400" dirty="0">
                <a:solidFill>
                  <a:srgbClr val="3A3A3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Left Hind – Left Front – Right Hind – Right Front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8031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D8CA-388C-0026-5011-49026A1F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>
            <a:extLst>
              <a:ext uri="{FF2B5EF4-FFF2-40B4-BE49-F238E27FC236}">
                <a16:creationId xmlns:a16="http://schemas.microsoft.com/office/drawing/2014/main" id="{440B143C-14F2-0391-B1D0-28B79A5D2368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walk</a:t>
            </a:r>
            <a:endParaRPr lang="en-US" sz="28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DB3894EC-E1D2-17B7-2CC1-AB986BD2AA58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walk is a symmetric 4-beat gait</a:t>
            </a:r>
            <a:endParaRPr lang="en-US" sz="1400" dirty="0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AE720199-C534-9EBC-3299-53D5B18B4E48}"/>
              </a:ext>
            </a:extLst>
          </p:cNvPr>
          <p:cNvSpPr/>
          <p:nvPr/>
        </p:nvSpPr>
        <p:spPr>
          <a:xfrm>
            <a:off x="640080" y="6076544"/>
            <a:ext cx="10972800" cy="54601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ctr"/>
          <a:lstStyle/>
          <a:p>
            <a:r>
              <a:rPr lang="en" sz="1400" i="1" dirty="0">
                <a:solidFill>
                  <a:srgbClr val="00206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footfall sequence is: </a:t>
            </a:r>
            <a:r>
              <a:rPr lang="en" sz="1400" dirty="0">
                <a:solidFill>
                  <a:srgbClr val="3A3A3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Left Hind – Left Front – Right Hind – Right Front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977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0532-E3DB-2653-BB57-69BA1419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B52E2F-D1A6-307A-B55D-CD58E314C6D8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trot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07924A-EC7C-BFC5-11F3-F5F7B9065EC9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trot is a symmetrical, two-beat diagonal gait.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816EA4-6BBD-6438-327C-DD08C2DD7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429" y="1396221"/>
            <a:ext cx="6816004" cy="4680323"/>
          </a:xfrm>
          <a:prstGeom prst="rect">
            <a:avLst/>
          </a:prstGeom>
        </p:spPr>
      </p:pic>
      <p:sp>
        <p:nvSpPr>
          <p:cNvPr id="7" name="Text 38">
            <a:extLst>
              <a:ext uri="{FF2B5EF4-FFF2-40B4-BE49-F238E27FC236}">
                <a16:creationId xmlns:a16="http://schemas.microsoft.com/office/drawing/2014/main" id="{01299CC6-9A48-1012-6323-392DEB615C35}"/>
              </a:ext>
            </a:extLst>
          </p:cNvPr>
          <p:cNvSpPr/>
          <p:nvPr/>
        </p:nvSpPr>
        <p:spPr>
          <a:xfrm>
            <a:off x="640080" y="6076544"/>
            <a:ext cx="10972800" cy="54601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00206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footfall sequence is: </a:t>
            </a:r>
            <a:r>
              <a:rPr lang="en-US" sz="1400" dirty="0">
                <a:solidFill>
                  <a:srgbClr val="3A3A3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Left Hind + Right Front – Suspension – Right Hind + Left Front – Suspension</a:t>
            </a:r>
          </a:p>
        </p:txBody>
      </p:sp>
    </p:spTree>
    <p:extLst>
      <p:ext uri="{BB962C8B-B14F-4D97-AF65-F5344CB8AC3E}">
        <p14:creationId xmlns:p14="http://schemas.microsoft.com/office/powerpoint/2010/main" val="292787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1FF5-CF6A-57F4-F1B9-4FA4125C2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>
            <a:extLst>
              <a:ext uri="{FF2B5EF4-FFF2-40B4-BE49-F238E27FC236}">
                <a16:creationId xmlns:a16="http://schemas.microsoft.com/office/drawing/2014/main" id="{81551E64-470C-CDD5-276E-633FEBE98BFD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trot</a:t>
            </a:r>
            <a:endParaRPr lang="en-US" sz="2800" dirty="0"/>
          </a:p>
        </p:txBody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D7FC4707-D1F4-3263-5359-A993C196F322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trot is a symmetrical, two-beat diagonal gait. </a:t>
            </a: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065115ED-4E09-ECA3-CBFF-A8BDB8F350D4}"/>
              </a:ext>
            </a:extLst>
          </p:cNvPr>
          <p:cNvSpPr/>
          <p:nvPr/>
        </p:nvSpPr>
        <p:spPr>
          <a:xfrm>
            <a:off x="640080" y="6076544"/>
            <a:ext cx="10972800" cy="546010"/>
          </a:xfrm>
          <a:prstGeom prst="rect">
            <a:avLst/>
          </a:prstGeom>
          <a:solidFill>
            <a:srgbClr val="F7FAFD"/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00206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footfall sequence is: </a:t>
            </a:r>
            <a:r>
              <a:rPr lang="en-US" sz="1400" dirty="0">
                <a:solidFill>
                  <a:srgbClr val="3A3A3A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Left Hind + Right Front – Suspension – Right Hind + Left Front – Suspension</a:t>
            </a:r>
          </a:p>
        </p:txBody>
      </p:sp>
    </p:spTree>
    <p:extLst>
      <p:ext uri="{BB962C8B-B14F-4D97-AF65-F5344CB8AC3E}">
        <p14:creationId xmlns:p14="http://schemas.microsoft.com/office/powerpoint/2010/main" val="3236532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3C6B"/>
          </a:solidFill>
          <a:ln w="12700">
            <a:solidFill>
              <a:srgbClr val="173C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9377E"/>
          </a:solidFill>
          <a:ln w="12700">
            <a:solidFill>
              <a:srgbClr val="E937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EquiPro Inertia Technology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7782"/>
                </a:solidFill>
              </a:rPr>
              <a:t>System components, synchronization, and gait-processing outputs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5593080" cy="5230368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0923" y="1241507"/>
            <a:ext cx="3342294" cy="31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870C7"/>
                </a:solidFill>
              </a:rPr>
              <a:t>Components and features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0923" y="1662131"/>
            <a:ext cx="5061366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31363F"/>
                </a:solidFill>
              </a:rPr>
              <a:t>• Eight synchronized wireless inertial</a:t>
            </a:r>
            <a:r>
              <a:rPr lang="en-US" sz="1620" dirty="0"/>
              <a:t> </a:t>
            </a:r>
            <a:r>
              <a:rPr lang="en-US" sz="1620" dirty="0">
                <a:solidFill>
                  <a:srgbClr val="31363F"/>
                </a:solidFill>
              </a:rPr>
              <a:t>measurement units (IMUs).</a:t>
            </a:r>
            <a:endParaRPr lang="en-US" sz="1620" dirty="0"/>
          </a:p>
          <a:p>
            <a:pPr marL="0" indent="0">
              <a:buNone/>
            </a:pP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31363F"/>
                </a:solidFill>
              </a:rPr>
              <a:t>• Data transmit wirelessly to an inertia</a:t>
            </a:r>
            <a:r>
              <a:rPr lang="en-US" sz="1620" dirty="0"/>
              <a:t> </a:t>
            </a:r>
            <a:r>
              <a:rPr lang="en-US" sz="1620" dirty="0">
                <a:solidFill>
                  <a:srgbClr val="31363F"/>
                </a:solidFill>
              </a:rPr>
              <a:t>gateway receiver.</a:t>
            </a:r>
            <a:endParaRPr lang="en-US" sz="1620" dirty="0"/>
          </a:p>
          <a:p>
            <a:pPr marL="0" indent="0">
              <a:buNone/>
            </a:pP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31363F"/>
                </a:solidFill>
              </a:rPr>
              <a:t>• IMUs are time-synchronized, enabling</a:t>
            </a:r>
            <a:r>
              <a:rPr lang="en-US" sz="1620" dirty="0"/>
              <a:t> </a:t>
            </a:r>
            <a:r>
              <a:rPr lang="en-US" sz="1620" dirty="0">
                <a:solidFill>
                  <a:srgbClr val="31363F"/>
                </a:solidFill>
              </a:rPr>
              <a:t>limb-by-limb timing comparisons.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690923" y="3973068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870C7"/>
                </a:solidFill>
              </a:rPr>
              <a:t>Data processing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922" y="4352544"/>
            <a:ext cx="5113545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10" dirty="0">
                <a:solidFill>
                  <a:srgbClr val="31363F"/>
                </a:solidFill>
              </a:rPr>
              <a:t>• Step detection from hoof-on and hoof-off</a:t>
            </a:r>
            <a:r>
              <a:rPr lang="en-US" sz="1510" dirty="0"/>
              <a:t> </a:t>
            </a:r>
            <a:r>
              <a:rPr lang="en-US" sz="1510" dirty="0">
                <a:solidFill>
                  <a:srgbClr val="31363F"/>
                </a:solidFill>
              </a:rPr>
              <a:t>movements.</a:t>
            </a:r>
            <a:endParaRPr lang="en-US" sz="1510" dirty="0"/>
          </a:p>
          <a:p>
            <a:pPr marL="0" indent="0">
              <a:buNone/>
            </a:pP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31363F"/>
                </a:solidFill>
              </a:rPr>
              <a:t>• 3D orientation from accelerometers and</a:t>
            </a:r>
            <a:r>
              <a:rPr lang="en-US" sz="1510" dirty="0"/>
              <a:t> </a:t>
            </a:r>
            <a:r>
              <a:rPr lang="en-US" sz="1510" dirty="0">
                <a:solidFill>
                  <a:srgbClr val="31363F"/>
                </a:solidFill>
              </a:rPr>
              <a:t>gyroscopes.</a:t>
            </a:r>
            <a:endParaRPr lang="en-US" sz="1510" dirty="0"/>
          </a:p>
          <a:p>
            <a:pPr marL="0" indent="0">
              <a:buNone/>
            </a:pPr>
            <a:endParaRPr lang="en-US" sz="1510" dirty="0"/>
          </a:p>
          <a:p>
            <a:pPr marL="0" indent="0">
              <a:buNone/>
            </a:pPr>
            <a:r>
              <a:rPr lang="en-US" sz="1510" dirty="0">
                <a:solidFill>
                  <a:srgbClr val="31363F"/>
                </a:solidFill>
              </a:rPr>
              <a:t>• Derived gait metrics such as protraction,</a:t>
            </a:r>
            <a:r>
              <a:rPr lang="en-US" sz="1510" dirty="0"/>
              <a:t> </a:t>
            </a:r>
            <a:r>
              <a:rPr lang="en-US" sz="1510" dirty="0">
                <a:solidFill>
                  <a:srgbClr val="31363F"/>
                </a:solidFill>
              </a:rPr>
              <a:t>retraction, abduction, and adduction angles.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6468570" y="1051560"/>
            <a:ext cx="5190030" cy="237744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68570" y="3132501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7782"/>
                </a:solidFill>
              </a:rPr>
              <a:t>System overview: software, gateway, and body-mounted wireless IMUs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68570" y="3575304"/>
            <a:ext cx="5190030" cy="267919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94120" y="59512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7782"/>
                </a:solidFill>
              </a:rPr>
              <a:t>Example sensor placement: poll, withers, sternum, sacrum, and limb sensors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626096" y="64221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73C6B"/>
                </a:solidFill>
              </a:rPr>
              <a:t>Bosch et al., 2018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95EDA01-C149-297A-18F3-77AEB083B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290" y="1243584"/>
            <a:ext cx="4035854" cy="18525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BB19A3-FDE8-72CA-BAF5-7E5B360FB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907" y="3635605"/>
            <a:ext cx="3120259" cy="2242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EquiPro lesson uses from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notebook relies on stride-level timing rather than continuous raw signals.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657600" cy="152704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100584" cy="1527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56362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structure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856232"/>
            <a:ext cx="3310128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lesson notebook treats the EquiPro CSV as stride-by-stride data: each row is a detected stride with hoof-on timestamps and stride metrics.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157924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3157924"/>
            <a:ext cx="100584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3042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variables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596836"/>
            <a:ext cx="331012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Hoof-on times define the observed gait events. Stride duration and duty factor summarize timing from stride to stride.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810654"/>
            <a:ext cx="3657600" cy="12243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4810654"/>
            <a:ext cx="100584" cy="1224386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95695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choice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249566"/>
            <a:ext cx="331012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walk block and one trot block are selected under similar conditions for a clean comparison.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6492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4922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</a:rPr>
              <a:t>Core variables in CSV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74920" y="221920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5303520" y="21643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</a:rPr>
              <a:t>Hoof-on timestamps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85232" y="243865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8"/>
                </a:solidFill>
              </a:rPr>
              <a:t>observed event timing by limb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4920" y="304216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5303520" y="29872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</a:rPr>
              <a:t>Stride duration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3519" y="3331976"/>
            <a:ext cx="3316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8"/>
                </a:solidFill>
              </a:rPr>
              <a:t>elapsed time from one reference stride to the next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4920" y="3865120"/>
            <a:ext cx="128016" cy="128016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5303520" y="3810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</a:rPr>
              <a:t>Duty factor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0" y="408457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8"/>
                </a:solidFill>
              </a:rPr>
              <a:t>how much of the stride a limb spends in contact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74920" y="4688080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5303519" y="4633216"/>
            <a:ext cx="2906625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</a:rPr>
              <a:t>Mean limb-angle tracks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03520" y="4866359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7288"/>
                </a:solidFill>
              </a:rPr>
              <a:t>stride-normalized waveform summaries from EquiPro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32520" y="1783080"/>
            <a:ext cx="2282758" cy="2194560"/>
          </a:xfrm>
          <a:prstGeom prst="roundRect">
            <a:avLst>
              <a:gd name="adj" fmla="val 1667"/>
            </a:avLst>
          </a:prstGeom>
          <a:solidFill>
            <a:srgbClr val="EAF3FF"/>
          </a:solidFill>
          <a:ln w="12700">
            <a:solidFill>
              <a:srgbClr val="C8D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903403" y="1993392"/>
            <a:ext cx="22827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66"/>
                </a:solidFill>
              </a:rPr>
              <a:t>Example stride fields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03404" y="233172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ts_hoof_on_LH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03404" y="266090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ts_hoof_on_RH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903404" y="29900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stride_dur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903404" y="331927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</a:rPr>
              <a:t>duty_factor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 focuses on event timing and phase; later notebooks can extend to richer waveform and raw-signal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real time to normalized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turns hoof-on times into stride-relative phase values.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39" y="1737360"/>
            <a:ext cx="30473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Normalized hoof-on phase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" y="2388790"/>
            <a:ext cx="3520440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63240"/>
            <a:ext cx="3474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</a:rPr>
              <a:t>Using LH as the reference limb means the LH phase is always 0. Every other hoof-on event is written as a location on the interval [0,1).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66"/>
                </a:solidFill>
              </a:rPr>
              <a:t>Why normalize?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24128" y="4480560"/>
            <a:ext cx="91440" cy="9144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00912" y="4503420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Compare strides with different durations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24128" y="4864608"/>
            <a:ext cx="91440" cy="9144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00912" y="4887468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See phase clusters instead of raw clock times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24128" y="5248656"/>
            <a:ext cx="91440" cy="9144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00912" y="5271516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Match the form used in the phase model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49240" y="262872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88"/>
                </a:solidFill>
              </a:rPr>
              <a:t>0</a:t>
            </a:r>
            <a:endParaRPr lang="en-US" sz="2000" b="1" dirty="0"/>
          </a:p>
        </p:txBody>
      </p:sp>
      <p:sp>
        <p:nvSpPr>
          <p:cNvPr id="19" name="Text 16"/>
          <p:cNvSpPr/>
          <p:nvPr/>
        </p:nvSpPr>
        <p:spPr>
          <a:xfrm>
            <a:off x="10972800" y="262872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88"/>
                </a:solidFill>
              </a:rPr>
              <a:t>1</a:t>
            </a:r>
            <a:endParaRPr lang="en-US" sz="2000" b="1" dirty="0"/>
          </a:p>
        </p:txBody>
      </p:sp>
      <p:sp>
        <p:nvSpPr>
          <p:cNvPr id="20" name="Text 17"/>
          <p:cNvSpPr/>
          <p:nvPr/>
        </p:nvSpPr>
        <p:spPr>
          <a:xfrm>
            <a:off x="5166360" y="1438399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Walk target phases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1696765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8"/>
                </a:solidFill>
              </a:rPr>
              <a:t>Quarter-cycle spacing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30952" y="231114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57800" y="208254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LH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36842" y="231114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63690" y="208254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LF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142732" y="2311146"/>
            <a:ext cx="128016" cy="128016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069580" y="2082545"/>
            <a:ext cx="348088" cy="162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6C00"/>
                </a:solidFill>
              </a:rPr>
              <a:t>RH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548622" y="2311146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75470" y="208254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RF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49240" y="43255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288"/>
                </a:solidFill>
              </a:rPr>
              <a:t>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972800" y="432554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6360" y="3070375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24D"/>
                </a:solidFill>
              </a:rPr>
              <a:t>Trot target phases</a:t>
            </a: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66360" y="333522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8"/>
                </a:solidFill>
              </a:rPr>
              <a:t>Diagonal pairs synchronize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330952" y="381990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257800" y="359130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LH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330952" y="4338706"/>
            <a:ext cx="128016" cy="12801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257800" y="411010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62828"/>
                </a:solidFill>
              </a:rPr>
              <a:t>RF</a:t>
            </a: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8142732" y="3819906"/>
            <a:ext cx="128016" cy="128016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069580" y="3591306"/>
            <a:ext cx="348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6C00"/>
                </a:solidFill>
              </a:rPr>
              <a:t>RH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142732" y="4332229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069580" y="4103629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565C0"/>
                </a:solidFill>
              </a:rPr>
              <a:t>LF</a:t>
            </a: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5321808" y="513750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321808" y="5137500"/>
            <a:ext cx="100584" cy="1051560"/>
          </a:xfrm>
          <a:prstGeom prst="rect">
            <a:avLst/>
          </a:prstGeom>
          <a:solidFill>
            <a:srgbClr val="F2B94B"/>
          </a:solidFill>
          <a:ln w="12700">
            <a:solidFill>
              <a:srgbClr val="F2B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550408" y="5283804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5550408" y="5576412"/>
            <a:ext cx="532180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raster plot shows raw event structure. The phase plot shows where each event falls inside a reference stride.</a:t>
            </a:r>
            <a:endParaRPr lang="en-US" sz="1350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81B33E7D-E928-24EF-DE74-10CA22711B81}"/>
              </a:ext>
            </a:extLst>
          </p:cNvPr>
          <p:cNvSpPr/>
          <p:nvPr/>
        </p:nvSpPr>
        <p:spPr>
          <a:xfrm>
            <a:off x="5327450" y="46663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88"/>
                </a:solidFill>
              </a:rPr>
              <a:t>0</a:t>
            </a:r>
            <a:endParaRPr lang="en-US" sz="2000" b="1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87FEB075-B3CB-6D60-FDFD-CA26230D1A8D}"/>
              </a:ext>
            </a:extLst>
          </p:cNvPr>
          <p:cNvSpPr/>
          <p:nvPr/>
        </p:nvSpPr>
        <p:spPr>
          <a:xfrm>
            <a:off x="10951010" y="466634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288"/>
                </a:solidFill>
              </a:rPr>
              <a:t>1</a:t>
            </a:r>
            <a:endParaRPr lang="en-US" sz="2000" b="1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AC6BBEC-44B6-6518-FAE9-B6FB15C63676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5486400" y="2697302"/>
            <a:ext cx="5486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7C0D7F8-E596-33AF-FAFF-24BCA59D238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464610" y="4734920"/>
            <a:ext cx="5486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8181-525D-E3BF-AEDD-82243F44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DF67E-5035-93F7-FA1C-9074A9C68D45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Footfall phases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50B713-7E39-D631-76C9-77792BE5E405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data showing when each hoof hits the ground for many strides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30425-AF7C-AD7D-89C5-30F69A6F5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09" y="1807362"/>
            <a:ext cx="11387847" cy="408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14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/>
          <p:cNvSpPr/>
          <p:nvPr/>
        </p:nvSpPr>
        <p:spPr>
          <a:xfrm>
            <a:off x="472482" y="1085574"/>
            <a:ext cx="562356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5" name="Shape 5"/>
          <p:cNvSpPr/>
          <p:nvPr/>
        </p:nvSpPr>
        <p:spPr>
          <a:xfrm>
            <a:off x="6300216" y="1041735"/>
            <a:ext cx="5440680" cy="5349240"/>
          </a:xfrm>
          <a:prstGeom prst="roundRect">
            <a:avLst>
              <a:gd name="adj" fmla="val 136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73C6B"/>
          </a:solidFill>
          <a:ln w="12700">
            <a:solidFill>
              <a:srgbClr val="173C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9377E"/>
          </a:solidFill>
          <a:ln w="12700">
            <a:solidFill>
              <a:srgbClr val="E937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28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Stride length and duty factor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7782"/>
                </a:solidFill>
              </a:rPr>
              <a:t>Two simple summaries used to interpret how a horse moves through space and time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29639" y="12024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</a:rPr>
              <a:t>Stride length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1591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31363F"/>
                </a:solidFill>
              </a:rPr>
              <a:t>Distance traveled from one hoof-on of a limb to the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31363F"/>
                </a:solidFill>
              </a:rPr>
              <a:t>next hoof-on of the same limb.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896112" y="2889932"/>
            <a:ext cx="4434840" cy="0"/>
          </a:xfrm>
          <a:prstGeom prst="line">
            <a:avLst/>
          </a:prstGeom>
          <a:noFill/>
          <a:ln w="12700">
            <a:solidFill>
              <a:srgbClr val="173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275277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35608" y="2862500"/>
            <a:ext cx="0" cy="34747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1457" y="3242203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hoof-on</a:t>
            </a:r>
          </a:p>
        </p:txBody>
      </p:sp>
      <p:sp>
        <p:nvSpPr>
          <p:cNvPr id="14" name="Shape 12"/>
          <p:cNvSpPr/>
          <p:nvPr/>
        </p:nvSpPr>
        <p:spPr>
          <a:xfrm>
            <a:off x="2907792" y="275277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971800" y="2862500"/>
            <a:ext cx="0" cy="34747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06624" y="32374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hoof-off</a:t>
            </a:r>
          </a:p>
        </p:txBody>
      </p:sp>
      <p:sp>
        <p:nvSpPr>
          <p:cNvPr id="17" name="Shape 15"/>
          <p:cNvSpPr/>
          <p:nvPr/>
        </p:nvSpPr>
        <p:spPr>
          <a:xfrm>
            <a:off x="4782312" y="2752772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2862500"/>
            <a:ext cx="0" cy="34747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81144" y="323740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hoof-on</a:t>
            </a:r>
          </a:p>
        </p:txBody>
      </p:sp>
      <p:sp>
        <p:nvSpPr>
          <p:cNvPr id="20" name="Shape 18"/>
          <p:cNvSpPr/>
          <p:nvPr/>
        </p:nvSpPr>
        <p:spPr>
          <a:xfrm>
            <a:off x="1371600" y="2569892"/>
            <a:ext cx="1644039" cy="146303"/>
          </a:xfrm>
          <a:prstGeom prst="chevron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00137" y="2185844"/>
            <a:ext cx="23540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C6B"/>
                </a:solidFill>
              </a:rPr>
              <a:t>Stride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73C6B"/>
                </a:solidFill>
              </a:rPr>
              <a:t>length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3863305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</a:rPr>
              <a:t>Interpretation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8952" y="4338793"/>
            <a:ext cx="4754880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• Longer stride length means more ground covered per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stride.</a:t>
            </a:r>
            <a:endParaRPr lang="en-US" sz="1410" dirty="0"/>
          </a:p>
          <a:p>
            <a:pPr marL="0" indent="0">
              <a:buNone/>
            </a:pP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• It usually depends on gait, speed, body size, and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collection/extension.</a:t>
            </a:r>
            <a:endParaRPr lang="en-US" sz="1410" dirty="0"/>
          </a:p>
          <a:p>
            <a:pPr marL="0" indent="0">
              <a:buNone/>
            </a:pP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• Stride length is a spatial summary, complementing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1363F"/>
                </a:solidFill>
              </a:rPr>
              <a:t>timing measures such as phase and duty factor.</a:t>
            </a:r>
            <a:endParaRPr lang="en-US" sz="1410" dirty="0"/>
          </a:p>
        </p:txBody>
      </p:sp>
      <p:sp>
        <p:nvSpPr>
          <p:cNvPr id="24" name="Text 22"/>
          <p:cNvSpPr/>
          <p:nvPr/>
        </p:nvSpPr>
        <p:spPr>
          <a:xfrm>
            <a:off x="6473952" y="1128019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</a:rPr>
              <a:t>Duty factor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73952" y="1627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31363F"/>
                </a:solidFill>
              </a:rPr>
              <a:t>Fraction of the stride spent in stance (hoof in</a:t>
            </a:r>
            <a:r>
              <a:rPr lang="en-US" sz="1530" dirty="0"/>
              <a:t> </a:t>
            </a:r>
            <a:r>
              <a:rPr lang="en-US" sz="1530" dirty="0">
                <a:solidFill>
                  <a:srgbClr val="31363F"/>
                </a:solidFill>
              </a:rPr>
              <a:t>contact with the ground).</a:t>
            </a:r>
            <a:endParaRPr lang="en-US" sz="153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650" y="2258139"/>
            <a:ext cx="3463582" cy="458057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903720" y="3167715"/>
            <a:ext cx="1847088" cy="237744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50808" y="3240867"/>
            <a:ext cx="1810512" cy="91440"/>
          </a:xfrm>
          <a:prstGeom prst="rect">
            <a:avLst/>
          </a:prstGeom>
          <a:solidFill>
            <a:srgbClr val="0070C0"/>
          </a:solidFill>
          <a:ln w="1270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461504" y="2911683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</a:rPr>
              <a:t>stance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9290304" y="2957063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</a:rPr>
              <a:t>swing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11312" y="3551763"/>
            <a:ext cx="1078992" cy="17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/>
              <a:t>one stride</a:t>
            </a:r>
          </a:p>
        </p:txBody>
      </p:sp>
      <p:sp>
        <p:nvSpPr>
          <p:cNvPr id="33" name="Text 30"/>
          <p:cNvSpPr/>
          <p:nvPr/>
        </p:nvSpPr>
        <p:spPr>
          <a:xfrm>
            <a:off x="6476530" y="4195783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C6B"/>
                </a:solidFill>
              </a:rPr>
              <a:t>How to read it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473952" y="4543595"/>
            <a:ext cx="466344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63F"/>
                </a:solidFill>
              </a:rPr>
              <a:t>Higher duty factor means the limb spends more of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31363F"/>
                </a:solidFill>
              </a:rPr>
              <a:t>the stride on the ground.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63F"/>
                </a:solidFill>
              </a:rPr>
              <a:t>Lower duty factor means relatively more time in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31363F"/>
                </a:solidFill>
              </a:rPr>
              <a:t>swing.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1363F"/>
                </a:solidFill>
              </a:rPr>
              <a:t>Walk typically has higher duty factor than trot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31363F"/>
                </a:solidFill>
              </a:rPr>
              <a:t>because there is no aerial phase.</a:t>
            </a:r>
            <a:endParaRPr lang="en-US" sz="16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25FD0F-B4F2-D361-F6CF-196BFDA7284D}"/>
              </a:ext>
            </a:extLst>
          </p:cNvPr>
          <p:cNvCxnSpPr>
            <a:cxnSpLocks/>
          </p:cNvCxnSpPr>
          <p:nvPr/>
        </p:nvCxnSpPr>
        <p:spPr>
          <a:xfrm>
            <a:off x="9290304" y="3651115"/>
            <a:ext cx="12710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E0C775-E582-9103-279E-ABB19AFBAC67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6952034" y="3622191"/>
            <a:ext cx="1259278" cy="166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hape 18">
            <a:extLst>
              <a:ext uri="{FF2B5EF4-FFF2-40B4-BE49-F238E27FC236}">
                <a16:creationId xmlns:a16="http://schemas.microsoft.com/office/drawing/2014/main" id="{8E86A6EC-D40B-4A74-8234-A50F8627FB3B}"/>
              </a:ext>
            </a:extLst>
          </p:cNvPr>
          <p:cNvSpPr/>
          <p:nvPr/>
        </p:nvSpPr>
        <p:spPr>
          <a:xfrm>
            <a:off x="2945860" y="2567233"/>
            <a:ext cx="1900460" cy="153535"/>
          </a:xfrm>
          <a:prstGeom prst="chevron">
            <a:avLst/>
          </a:prstGeom>
          <a:solidFill>
            <a:srgbClr val="0070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reduced quadruped CPG phase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oscillator per limb; coupling drives the system toward a target gait pattern.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5852160" cy="4633284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5839" y="1664208"/>
            <a:ext cx="32094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Reduced phase equations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260" y="2112264"/>
            <a:ext cx="544068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3003575"/>
            <a:ext cx="5303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</a:rPr>
              <a:t>Each limb has a phase variable. The coupling term depends on the difference between current relative phase and the desired target lag for the chosen gait.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84148" y="3979875"/>
            <a:ext cx="91440" cy="914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402080" y="3979875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θ_i: phase of limb 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84148" y="4411878"/>
            <a:ext cx="91440" cy="914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02080" y="4363923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ω: natural stepping frequency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84148" y="4754880"/>
            <a:ext cx="91440" cy="914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02080" y="4747971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K: coupling strength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84148" y="5132019"/>
            <a:ext cx="91440" cy="914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402080" y="5132019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φ*: target phase vector for walk or trot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41595" y="51540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24D"/>
                </a:solidFill>
              </a:rPr>
              <a:t>Notebook limb order: </a:t>
            </a:r>
            <a:r>
              <a:rPr lang="en-US" b="1" dirty="0">
                <a:solidFill>
                  <a:srgbClr val="00B050"/>
                </a:solidFill>
              </a:rPr>
              <a:t>LH</a:t>
            </a:r>
            <a:r>
              <a:rPr lang="en-US" b="1" dirty="0">
                <a:solidFill>
                  <a:srgbClr val="17324D"/>
                </a:solidFill>
              </a:rPr>
              <a:t>, </a:t>
            </a:r>
            <a:r>
              <a:rPr lang="en-US" b="1" dirty="0">
                <a:solidFill>
                  <a:srgbClr val="FF6600"/>
                </a:solidFill>
              </a:rPr>
              <a:t>RH</a:t>
            </a:r>
            <a:r>
              <a:rPr lang="en-US" b="1" dirty="0">
                <a:solidFill>
                  <a:srgbClr val="17324D"/>
                </a:solidFill>
              </a:rPr>
              <a:t>, </a:t>
            </a:r>
            <a:r>
              <a:rPr lang="en-US" b="1" dirty="0">
                <a:solidFill>
                  <a:srgbClr val="0070C0"/>
                </a:solidFill>
              </a:rPr>
              <a:t>LF</a:t>
            </a:r>
            <a:r>
              <a:rPr lang="en-US" b="1" dirty="0">
                <a:solidFill>
                  <a:srgbClr val="17324D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RF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7360920" y="5711852"/>
            <a:ext cx="3749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324D"/>
                </a:solidFill>
              </a:rPr>
              <a:t>This is a simple model whose job is to explain the relative timing of the four limbs.</a:t>
            </a:r>
            <a:endParaRPr lang="en-US" sz="140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E2FCB59C-62A6-6CEB-7BEF-49D755199E81}"/>
              </a:ext>
            </a:extLst>
          </p:cNvPr>
          <p:cNvSpPr/>
          <p:nvPr/>
        </p:nvSpPr>
        <p:spPr>
          <a:xfrm>
            <a:off x="1184148" y="5501263"/>
            <a:ext cx="91440" cy="9144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007DF241-1AAC-0995-87AB-6FDB9EE957C6}"/>
              </a:ext>
            </a:extLst>
          </p:cNvPr>
          <p:cNvSpPr/>
          <p:nvPr/>
        </p:nvSpPr>
        <p:spPr>
          <a:xfrm>
            <a:off x="1402080" y="5501263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N: number of oscillators (e.g. legs)</a:t>
            </a:r>
            <a:endParaRPr lang="en-US" sz="1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616F3D9-30FC-756C-5506-4886D10EE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308" y="1539340"/>
            <a:ext cx="4436022" cy="30577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9CE3-7592-72DD-9DD1-41EB932A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25538-B060-E2A0-FD5B-95CD986CE5EB}"/>
              </a:ext>
            </a:extLst>
          </p:cNvPr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Oscillator model results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2E53F9-94C9-F10F-F4F7-253B4C3CE6A8}"/>
              </a:ext>
            </a:extLst>
          </p:cNvPr>
          <p:cNvSpPr/>
          <p:nvPr/>
        </p:nvSpPr>
        <p:spPr>
          <a:xfrm>
            <a:off x="594360" y="94940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would represent a perfectly symmetrical horse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B64FBD-DF21-E7FF-57C7-3A2242568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634" y="1397032"/>
            <a:ext cx="6676238" cy="52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7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notebook is organized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guided sequence from observed data to model-based interpretation.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572768"/>
            <a:ext cx="320040" cy="256032"/>
          </a:xfrm>
          <a:prstGeom prst="chevron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0160" y="1371600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81328" y="1499616"/>
            <a:ext cx="420624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1328" y="15956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5087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Load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07408" y="1426464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Import the EquiPro file and inspect the available segments.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377440"/>
            <a:ext cx="320040" cy="256032"/>
          </a:xfrm>
          <a:prstGeom prst="chevron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80160" y="2176272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81328" y="2304288"/>
            <a:ext cx="420624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81328" y="240030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23134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Helper functions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07408" y="2231136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Compute normalized phases and prepare plotting/model utilities.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182112"/>
            <a:ext cx="320040" cy="256032"/>
          </a:xfrm>
          <a:prstGeom prst="chevron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80160" y="2980944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81328" y="3108960"/>
            <a:ext cx="420624" cy="347472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81328" y="320497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31181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Choose segments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07408" y="3035808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Pick one walk block and one trot block for the lesson.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986784"/>
            <a:ext cx="320040" cy="256032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80160" y="3785616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81328" y="3913632"/>
            <a:ext cx="420624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81328" y="40096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392277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Plot real data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07408" y="3840480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Footfall timing, phase rasters, summary table, limb-angle means.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680" y="4791456"/>
            <a:ext cx="320040" cy="256032"/>
          </a:xfrm>
          <a:prstGeom prst="chevron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80160" y="4590288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81328" y="4718304"/>
            <a:ext cx="420624" cy="347472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81328" y="481431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4727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Simulate model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07408" y="4645152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Run the reduced 4-limb coupled phase-oscillator system.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8680" y="5596128"/>
            <a:ext cx="320040" cy="256032"/>
          </a:xfrm>
          <a:prstGeom prst="chevron">
            <a:avLst/>
          </a:prstGeom>
          <a:solidFill>
            <a:srgbClr val="F2B94B"/>
          </a:solidFill>
          <a:ln w="12700">
            <a:solidFill>
              <a:srgbClr val="F2B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80160" y="5394960"/>
            <a:ext cx="98755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81328" y="5522976"/>
            <a:ext cx="420624" cy="347472"/>
          </a:xfrm>
          <a:prstGeom prst="ellipse">
            <a:avLst/>
          </a:prstGeom>
          <a:solidFill>
            <a:srgbClr val="F2B94B"/>
          </a:solidFill>
          <a:ln w="12700">
            <a:solidFill>
              <a:srgbClr val="F2B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81328" y="56189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6–7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57400" y="553212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Compare + summarize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407408" y="5449824"/>
            <a:ext cx="650443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24D"/>
                </a:solidFill>
              </a:rPr>
              <a:t>Check phase locking, compare observed/model timing, discuss limitations.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leave with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lesson is about timing structure, not a complete physiology model.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100584" cy="1463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6550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312724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gait can be described as a stable pattern of relative phases among limbs.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00584" cy="146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3924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 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685032"/>
            <a:ext cx="3127248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Normalizing hoof-on times to phase makes walk and trot easy to compare across strides.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100584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51297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 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5422392"/>
            <a:ext cx="3127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four-oscillator model already captures the main timing relationships.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64008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1664208"/>
            <a:ext cx="38103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</a:rPr>
              <a:t>Important limitations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0" y="2404872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5230368" y="2322576"/>
            <a:ext cx="53949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7324D"/>
                </a:solidFill>
              </a:rPr>
              <a:t>The CSV used here is a stride summary file, not a full continuous time-series export.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0" y="3227832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5230368" y="3145536"/>
            <a:ext cx="53949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7324D"/>
                </a:solidFill>
              </a:rPr>
              <a:t>The comparison is mainly about event timing and relative phase, not continuous limb motion.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9200" y="4050792"/>
            <a:ext cx="100584" cy="100584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Text 21"/>
          <p:cNvSpPr/>
          <p:nvPr/>
        </p:nvSpPr>
        <p:spPr>
          <a:xfrm>
            <a:off x="5230368" y="3968496"/>
            <a:ext cx="53949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7324D"/>
                </a:solidFill>
              </a:rPr>
              <a:t>Real data show stride-to-stride variability that the reduced model does not try to explain.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</TotalTime>
  <Words>1580</Words>
  <Application>Microsoft Office PowerPoint</Application>
  <PresentationFormat>Widescreen</PresentationFormat>
  <Paragraphs>213</Paragraphs>
  <Slides>15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EquiPro Walk and Trot: Data + Phase Model</dc:title>
  <dc:subject>Background for EquiPro Gait Lesson 1</dc:subject>
  <dc:creator>EquiPhysics</dc:creator>
  <cp:lastModifiedBy>Laura Ann Miller</cp:lastModifiedBy>
  <cp:revision>8</cp:revision>
  <dcterms:created xsi:type="dcterms:W3CDTF">2026-03-21T21:43:17Z</dcterms:created>
  <dcterms:modified xsi:type="dcterms:W3CDTF">2026-03-23T18:24:54Z</dcterms:modified>
</cp:coreProperties>
</file>